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826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An Analysis of Global and Regional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Mainstreaminess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D9488"/>
                </a:solidFill>
              </a:rPr>
              <a:t>for Personalized Music Recommender Systems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Schedl &amp; Bauer (2018) — Study Review &amp; Python Implementation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3840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Doğukan Aydın — 240200019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127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Elif Dalmış — 230201082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4198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Yaman Balcı — 220201081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7124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Salih Çetin — 220201060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4005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Alperen Keskin — 230201094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2697480"/>
            <a:ext cx="3931920" cy="2240280"/>
          </a:xfrm>
          <a:prstGeom prst="rect">
            <a:avLst/>
          </a:prstGeom>
          <a:solidFill>
            <a:srgbClr val="1F4E79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120640" y="2834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Recommender Systems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(COME424/1)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Dr. Öğr. Üyesi Gamze Uslu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20640" y="3931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Üsküdar University — 2026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Department of Computer Engineering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Novelty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38328" y="86868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</a:rPr>
              <a:t>🎯  Problem Definition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188720"/>
            <a:ext cx="3986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Music recommendation systems are dominated by globally popular artists, creating a feedback loop that suppresses local and regional music. Standard popularity metrics (raw playcount AF) cannot distinguish between globally popular and locally popular artists — Finnish metal, Turkish folk-rock, and Korean K-Pop are systematically underrepresented.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4206240" cy="5486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773168" y="86868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</a:rPr>
              <a:t>💡  Motivation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1188720"/>
            <a:ext cx="3986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Schedl &amp; Bauer (2018) propose 11 mainstreaminess measures but provide no public implementation. Existing work focuses on global metrics only. We are motivated to: (1) reproduce all 11 measures in executable Python, (2) validate on an AI-expanded 12-country dataset, and (3) extend the analysis to markets not covered in the original paper.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331720"/>
            <a:ext cx="42062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228600" y="233172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38328" y="242316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</a:rPr>
              <a:t>🔧  Proposed Approach (brief)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" y="2743200"/>
            <a:ext cx="39867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Implement all 11 mainstreaminess measures — AF-based, Fraction-based (F), Kullback-Leibler Divergence (D), and Kendall's Tau (C) — across global and country-specific reference profiles. Apply to 500 users × 81 artists × 12 countries. Classify users into Low / Mid / High mainstreaminess segments.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331720"/>
            <a:ext cx="42062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4663440" y="2331720"/>
            <a:ext cx="4206240" cy="5486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773168" y="242316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</a:rPr>
              <a:t>✅  Contributions of This Study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168" y="2743200"/>
            <a:ext cx="39867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1. Open executable implementation of all 11 measures (Table 5, paper)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2. AI-assisted dataset: 500 users, 81 artists, 12 music markets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3. Cross-country comparison extended beyond original 3-country study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4. Empirical validation — US most mainstream (Cg=0.554), FI least (Cg=0.398)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3840480"/>
            <a:ext cx="8641080" cy="256032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20040" y="38587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F4E79"/>
                </a:solidFill>
              </a:rPr>
              <a:t>🆕  Novelty: Country-specific mainstreaminess analysis extended to 12 markets with AI-expanded dataset — not addressed in original paper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Method — Proposed Approach (Detail)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150876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28600" y="84124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Dataset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Loading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8600" y="12801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4FD"/>
                </a:solidFill>
              </a:rPr>
              <a:t>dataset_large.xlsx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8F4FD"/>
                </a:solidFill>
              </a:rPr>
              <a:t>500u × 81a × 12c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737360" y="1280160"/>
            <a:ext cx="347472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057400" y="1234440"/>
            <a:ext cx="73152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1874520" y="822960"/>
            <a:ext cx="150876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1874520" y="84124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AF &amp; LF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Profiles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74520" y="12801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4FD"/>
                </a:solidFill>
              </a:rPr>
              <a:t>Global + Country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8F4FD"/>
                </a:solidFill>
              </a:rPr>
              <a:t>AF / LF computation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383280" y="1280160"/>
            <a:ext cx="347472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3703320" y="1234440"/>
            <a:ext cx="73152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3520440" y="822960"/>
            <a:ext cx="150876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3520440" y="84124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AF-ILF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Weighting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20440" y="12801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4FD"/>
                </a:solidFill>
              </a:rPr>
              <a:t>TF-IDF inspired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8F4FD"/>
                </a:solidFill>
              </a:rPr>
              <a:t>Equation 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029200" y="1280160"/>
            <a:ext cx="347472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5349240" y="1234440"/>
            <a:ext cx="73152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5166360" y="822960"/>
            <a:ext cx="150876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5166360" y="84124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11 Measure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Family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66360" y="12801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4FD"/>
                </a:solidFill>
              </a:rPr>
              <a:t>F, D, C families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8F4FD"/>
                </a:solidFill>
              </a:rPr>
              <a:t>(Table 5, paper)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675120" y="1280160"/>
            <a:ext cx="347472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6995160" y="1234440"/>
            <a:ext cx="73152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6812280" y="822960"/>
            <a:ext cx="150876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6812280" y="84124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Classification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Output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12280" y="12801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4FD"/>
                </a:solidFill>
              </a:rPr>
              <a:t>Low / Mid / High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8F4FD"/>
                </a:solidFill>
              </a:rPr>
              <a:t>Country ranking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8600" y="1874520"/>
            <a:ext cx="281635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228600" y="1874520"/>
            <a:ext cx="281635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320040" y="189280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AF-ILF  (Core Innovation)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01752" y="2304288"/>
            <a:ext cx="269748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AF·ILF(a,U1,U2) = log(1+AF) × log(1+|U2|/LF)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Penalises globally ubiquitous artists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Surfaces locally distinctive artists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TR: Duman 20.37 vs global score ~5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FI: Stam1na 7.19 vs global score ~2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172968" y="1874520"/>
            <a:ext cx="281635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3172968" y="1874520"/>
            <a:ext cx="2816352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3264408" y="189280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3 Measure Families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46120" y="2304288"/>
            <a:ext cx="269748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F — Fraction: normalised overlap |AFu-AFp|/max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D — KL Divergence: statistical distance, inverted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C — Kendall τ: rank correlation [-1, +1]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Global (g) vs Country (c) variants → 11 total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Best performer: Cc:AF,u:AF (Table 9, paper)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17336" y="1874520"/>
            <a:ext cx="281635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6117336" y="1874520"/>
            <a:ext cx="2816352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6208776" y="189280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Implementation Stack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90488" y="2304288"/>
            <a:ext cx="269748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Python 193 lines — mainstream_big.py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NumPy: log, percentile, random seed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Pandas: DataFrame, groupby, rank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SciPy: kendalltau correlation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</a:rPr>
              <a:t>dataset_large.xlsx — 4 sheets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Experimental Setup &amp; Results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402336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20040" y="7955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Experimental Setup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161288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Dataset: dataset_large.xlsx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500 users  ·  81 artists  ·  12 countries  ·  AI-expanded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LFM-1b structure mirrored — long-tail playcount distribution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TR, FI, US, DE, JP, BR, GB, FR, KR, SE, IT, MX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2029968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65760" y="2057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Comparison Methods (Table 5, Schedl &amp; Bauer 2018)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Fg:AF,u:AF  — Global fraction, raw AF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Fc:AF,u:AF  — Country fraction, raw AF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Dg/Dc  — KL divergence (global &amp; country)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Cg/Cc  — Kendall τ (global &amp; country, ± ILF)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2898648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Evaluation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1821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Tertile split: Low / Mid / High (33rd &amp; 66th percentile)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Country-level average Cg:AF score ranking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</a:rPr>
              <a:t>AF vs AF-ILF top-5 artist comparison per country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434840" y="777240"/>
            <a:ext cx="44622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526280" y="79552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Results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161288"/>
          <a:ext cx="3950208" cy="1874520"/>
        </p:xfrm>
        <a:graphic>
          <a:graphicData uri="http://schemas.openxmlformats.org/drawingml/2006/table">
            <a:tbl>
              <a:tblPr/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3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Cg:AF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Cc:AF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#1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United States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0.5544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0.5698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#2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United Kingdom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0.5116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0.6212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#3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Germany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0.4998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0.6231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#4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Italy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0.4663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0.6110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#5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Japan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0.4413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0.6340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#10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Turkey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0.4189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0.6445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#12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Finland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0.3982 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0.6542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434840" y="3063240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</a:rPr>
              <a:t>★ Finland deviates most from global mainstream — consistent with paper's finding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434840" y="3337560"/>
            <a:ext cx="44622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Text 20"/>
          <p:cNvSpPr/>
          <p:nvPr/>
        </p:nvSpPr>
        <p:spPr>
          <a:xfrm>
            <a:off x="4572000" y="3364992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AF-ILF Key Finding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0" y="3630168"/>
            <a:ext cx="4187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TR: Duman (20.37) · Mor ve Ötesi (20.99)  surfaced by AF-ILF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FI: Stam1na (7.19) · CMX (6.84)  — invisible in raw AF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US: No strong local signal — closely tracks global mainstream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28600" y="4096512"/>
            <a:ext cx="100584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Text 23"/>
          <p:cNvSpPr/>
          <p:nvPr/>
        </p:nvSpPr>
        <p:spPr>
          <a:xfrm>
            <a:off x="228600" y="4169664"/>
            <a:ext cx="100584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500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228600" y="4539082"/>
            <a:ext cx="100584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Users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298448" y="4096512"/>
            <a:ext cx="1005840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Text 26"/>
          <p:cNvSpPr/>
          <p:nvPr/>
        </p:nvSpPr>
        <p:spPr>
          <a:xfrm>
            <a:off x="1298448" y="4169664"/>
            <a:ext cx="100584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81</a:t>
            </a:r>
            <a:endParaRPr lang="en-US" sz="2800" dirty="0"/>
          </a:p>
        </p:txBody>
      </p:sp>
      <p:sp>
        <p:nvSpPr>
          <p:cNvPr id="30" name="Text 27"/>
          <p:cNvSpPr/>
          <p:nvPr/>
        </p:nvSpPr>
        <p:spPr>
          <a:xfrm>
            <a:off x="1298448" y="4539082"/>
            <a:ext cx="100584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Artists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368296" y="4096512"/>
            <a:ext cx="100584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Text 29"/>
          <p:cNvSpPr/>
          <p:nvPr/>
        </p:nvSpPr>
        <p:spPr>
          <a:xfrm>
            <a:off x="2368296" y="4169664"/>
            <a:ext cx="100584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12</a:t>
            </a:r>
            <a:endParaRPr lang="en-US" sz="2800" dirty="0"/>
          </a:p>
        </p:txBody>
      </p:sp>
      <p:sp>
        <p:nvSpPr>
          <p:cNvPr id="33" name="Text 30"/>
          <p:cNvSpPr/>
          <p:nvPr/>
        </p:nvSpPr>
        <p:spPr>
          <a:xfrm>
            <a:off x="2368296" y="4539082"/>
            <a:ext cx="100584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Countries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438144" y="4096512"/>
            <a:ext cx="100584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Text 32"/>
          <p:cNvSpPr/>
          <p:nvPr/>
        </p:nvSpPr>
        <p:spPr>
          <a:xfrm>
            <a:off x="3438144" y="4169664"/>
            <a:ext cx="100584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11</a:t>
            </a:r>
            <a:endParaRPr lang="en-US" sz="2800" dirty="0"/>
          </a:p>
        </p:txBody>
      </p:sp>
      <p:sp>
        <p:nvSpPr>
          <p:cNvPr id="36" name="Text 33"/>
          <p:cNvSpPr/>
          <p:nvPr/>
        </p:nvSpPr>
        <p:spPr>
          <a:xfrm>
            <a:off x="3438144" y="4539082"/>
            <a:ext cx="100584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Measures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507992" y="4096512"/>
            <a:ext cx="100584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8" name="Text 35"/>
          <p:cNvSpPr/>
          <p:nvPr/>
        </p:nvSpPr>
        <p:spPr>
          <a:xfrm>
            <a:off x="4507992" y="4169664"/>
            <a:ext cx="100584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193</a:t>
            </a:r>
            <a:endParaRPr lang="en-US" sz="2800" dirty="0"/>
          </a:p>
        </p:txBody>
      </p:sp>
      <p:sp>
        <p:nvSpPr>
          <p:cNvPr id="39" name="Text 36"/>
          <p:cNvSpPr/>
          <p:nvPr/>
        </p:nvSpPr>
        <p:spPr>
          <a:xfrm>
            <a:off x="4507992" y="4539082"/>
            <a:ext cx="100584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Code Lines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577840" y="4096512"/>
            <a:ext cx="1005840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1" name="Text 38"/>
          <p:cNvSpPr/>
          <p:nvPr/>
        </p:nvSpPr>
        <p:spPr>
          <a:xfrm>
            <a:off x="5577840" y="4169664"/>
            <a:ext cx="100584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34%</a:t>
            </a:r>
            <a:endParaRPr lang="en-US" sz="2800" dirty="0"/>
          </a:p>
        </p:txBody>
      </p:sp>
      <p:sp>
        <p:nvSpPr>
          <p:cNvPr id="42" name="Text 39"/>
          <p:cNvSpPr/>
          <p:nvPr/>
        </p:nvSpPr>
        <p:spPr>
          <a:xfrm>
            <a:off x="5577840" y="4539082"/>
            <a:ext cx="100584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Global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Segment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647688" y="4096512"/>
            <a:ext cx="1005840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4" name="Text 41"/>
          <p:cNvSpPr/>
          <p:nvPr/>
        </p:nvSpPr>
        <p:spPr>
          <a:xfrm>
            <a:off x="6647688" y="4169664"/>
            <a:ext cx="100584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33%</a:t>
            </a:r>
            <a:endParaRPr lang="en-US" sz="2800" dirty="0"/>
          </a:p>
        </p:txBody>
      </p:sp>
      <p:sp>
        <p:nvSpPr>
          <p:cNvPr id="45" name="Text 42"/>
          <p:cNvSpPr/>
          <p:nvPr/>
        </p:nvSpPr>
        <p:spPr>
          <a:xfrm>
            <a:off x="6647688" y="4539082"/>
            <a:ext cx="100584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Mid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Segment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7717536" y="4096512"/>
            <a:ext cx="100584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7" name="Text 44"/>
          <p:cNvSpPr/>
          <p:nvPr/>
        </p:nvSpPr>
        <p:spPr>
          <a:xfrm>
            <a:off x="7717536" y="4169664"/>
            <a:ext cx="100584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33%</a:t>
            </a:r>
            <a:endParaRPr lang="en-US" sz="2800" dirty="0"/>
          </a:p>
        </p:txBody>
      </p:sp>
      <p:sp>
        <p:nvSpPr>
          <p:cNvPr id="48" name="Text 45"/>
          <p:cNvSpPr/>
          <p:nvPr/>
        </p:nvSpPr>
        <p:spPr>
          <a:xfrm>
            <a:off x="7717536" y="4539082"/>
            <a:ext cx="100584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Local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Segment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Impact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795528"/>
            <a:ext cx="192024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28600" y="868680"/>
            <a:ext cx="19202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600M+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" y="1323594"/>
            <a:ext cx="192024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Spotify users globally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affected by popularity bias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795528"/>
            <a:ext cx="1920240" cy="9601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286000" y="868680"/>
            <a:ext cx="19202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286000" y="1323594"/>
            <a:ext cx="192024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Music markets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covered in this study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43400" y="795528"/>
            <a:ext cx="192024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343400" y="868680"/>
            <a:ext cx="19202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#1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343400" y="1323594"/>
            <a:ext cx="192024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US — closest to global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mainstream (Cg=0.554)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795528"/>
            <a:ext cx="249631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400800" y="868680"/>
            <a:ext cx="249631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84%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1323594"/>
            <a:ext cx="2496312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Finnish users classified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High mainstream locally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1901952"/>
            <a:ext cx="4114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228600" y="1901952"/>
            <a:ext cx="475488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228600" y="24048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19933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</a:rPr>
              <a:t>Filter Bubble Reduction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2322576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</a:rPr>
              <a:t>Users receiving only globally popular recommendations become progressively isolated. Mainstreaminess-aware systems break this cycle: Low users get local content, High users get global hits, Mid users get a blend.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99432" y="1901952"/>
            <a:ext cx="4114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599432" y="1901952"/>
            <a:ext cx="475488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599432" y="24048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🎵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48072" y="19933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</a:rPr>
              <a:t>Artist Discoverability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48072" y="2322576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</a:rPr>
              <a:t>Local artists (Duman, Grup Yorum, Stam1na, CMX) receive near-zero exposure under standard popularity ranking. AF-ILF weighting surfaces them — benefiting local music industries and cultural diversity on streaming platforms.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3410712"/>
            <a:ext cx="4114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228600" y="3410712"/>
            <a:ext cx="475488" cy="13898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228600" y="39136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77240" y="35021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</a:rPr>
              <a:t>Cultural Representation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" y="3831336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</a:rPr>
              <a:t>Finnish metal, Turkish folk-rock, J-Pop, K-Pop — treated as legitimate mainstream signals, not outliers. Respectful of cultural identity across 12 different music markets spanning Europe, Asia, Americas.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99432" y="3410712"/>
            <a:ext cx="4114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4599432" y="3410712"/>
            <a:ext cx="475488" cy="13898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4599432" y="39136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148072" y="35021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</a:rPr>
              <a:t>Academic Impact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48072" y="3831336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</a:rPr>
              <a:t>Provides executable bridge between mathematical formulations (paper Table 5) and testable Python code. Reproducible AI-expanded dataset methodology documented for future researchers. Replicates &amp; extends paper findings to 4× more countries.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Sustainability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795528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28600" y="795528"/>
            <a:ext cx="4114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20040" y="85039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🏗️  Architectural Sustainability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" y="1271016"/>
            <a:ext cx="3886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Modular code: each function handles one concept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Adding a new measure = 1 function + 1 result line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Country-agnostic: new markets need only dataset rows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Excel format: hoca &amp; students can edit without code changes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99432" y="795528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599432" y="795528"/>
            <a:ext cx="411480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690872" y="85039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🔬  Method Extensions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1271016"/>
            <a:ext cx="3886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Temporal AF: time-weighted playcounts for trend analysis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SVD integration: use Low/Mid/High as feature weights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Real LFM-1b data: direct comparison to Table 9 RMSE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Genre-level ILF: surface niche genres, not just artists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2944368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228600" y="2944368"/>
            <a:ext cx="41148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20040" y="299923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💾  Dataset Sustainability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328" y="3419856"/>
            <a:ext cx="3886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Living document: add artists as columns, countries as rows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AI generation methodology fully documented in report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4-sheet structure: Playcounts, Users, Artists, Countries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Future groups can regenerate/expand with different parameters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99432" y="2944368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4599432" y="2944368"/>
            <a:ext cx="411480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690872" y="299923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🚀  Future Roadmap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3419856"/>
            <a:ext cx="3886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Recommendation engine: Low→Local, High→Global strategies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Evaluation: RMSE, precision@k, diversity metrics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Flask API / Streamlit dashboard for live demo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</a:rPr>
              <a:t>Extend to 47 countries matching original LFM-1b scope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4773168"/>
            <a:ext cx="86410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1191</Words>
  <Application>Microsoft Office PowerPoint</Application>
  <PresentationFormat>Ekran Gösterisi (16:9)</PresentationFormat>
  <Paragraphs>195</Paragraphs>
  <Slides>6</Slides>
  <Notes>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Analysis of Global and Regional Mainstreaminess</dc:title>
  <dc:subject>PptxGenJS Presentation</dc:subject>
  <dc:creator>PptxGenJS</dc:creator>
  <cp:lastModifiedBy>Doğukan  AYDIN</cp:lastModifiedBy>
  <cp:revision>3</cp:revision>
  <dcterms:created xsi:type="dcterms:W3CDTF">2026-04-26T13:16:20Z</dcterms:created>
  <dcterms:modified xsi:type="dcterms:W3CDTF">2026-04-30T08:27:31Z</dcterms:modified>
</cp:coreProperties>
</file>